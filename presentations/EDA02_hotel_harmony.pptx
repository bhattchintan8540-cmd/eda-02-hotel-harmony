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256032" cy="6858000"/>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2011680"/>
            <a:ext cx="10515600" cy="1097280"/>
          </a:xfrm>
          <a:prstGeom prst="rect">
            <a:avLst/>
          </a:prstGeom>
          <a:noFill/>
        </p:spPr>
        <p:txBody>
          <a:bodyPr wrap="none">
            <a:spAutoFit/>
          </a:bodyPr>
          <a:lstStyle/>
          <a:p>
            <a:r>
              <a:rPr sz="1800" b="1">
                <a:solidFill>
                  <a:srgbClr val="0E7490"/>
                </a:solidFill>
                <a:latin typeface="Calibri"/>
              </a:rPr>
              <a:t>EDA 02</a:t>
            </a:r>
          </a:p>
        </p:txBody>
      </p:sp>
      <p:sp>
        <p:nvSpPr>
          <p:cNvPr id="7" name="TextBox 6"/>
          <p:cNvSpPr txBox="1"/>
          <p:nvPr/>
        </p:nvSpPr>
        <p:spPr>
          <a:xfrm>
            <a:off x="822960" y="2468880"/>
            <a:ext cx="10515600" cy="1828800"/>
          </a:xfrm>
          <a:prstGeom prst="rect">
            <a:avLst/>
          </a:prstGeom>
          <a:noFill/>
        </p:spPr>
        <p:txBody>
          <a:bodyPr wrap="none">
            <a:spAutoFit/>
          </a:bodyPr>
          <a:lstStyle/>
          <a:p>
            <a:r>
              <a:rPr sz="3200" b="1">
                <a:solidFill>
                  <a:srgbClr val="FFFFFF"/>
                </a:solidFill>
                <a:latin typeface="Calibri"/>
              </a:rPr>
              <a:t>Hotel Harmony: Data Insights for Optimized Operations</a:t>
            </a:r>
          </a:p>
        </p:txBody>
      </p:sp>
      <p:sp>
        <p:nvSpPr>
          <p:cNvPr id="8" name="TextBox 7"/>
          <p:cNvSpPr txBox="1"/>
          <p:nvPr/>
        </p:nvSpPr>
        <p:spPr>
          <a:xfrm>
            <a:off x="822960" y="4754880"/>
            <a:ext cx="10515600" cy="914400"/>
          </a:xfrm>
          <a:prstGeom prst="rect">
            <a:avLst/>
          </a:prstGeom>
          <a:noFill/>
        </p:spPr>
        <p:txBody>
          <a:bodyPr wrap="none">
            <a:spAutoFit/>
          </a:bodyPr>
          <a:lstStyle/>
          <a:p>
            <a:r>
              <a:rPr sz="1600" b="0">
                <a:solidFill>
                  <a:srgbClr val="F1F5F9"/>
                </a:solidFill>
                <a:latin typeface="Calibri"/>
              </a:rPr>
              <a:t>Hotel booking demand (Antonio, Almeida &amp; Nunes; Kaggle jessemostipak/hotel-booking-demand)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1) Overview</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Elite Hotels International reviews city and resort booking history to stabilize occupancy, cut avoidable cancellations, and price rooms using ADR and channel mix.</a:t>
            </a:r>
          </a:p>
          <a:p>
            <a:pPr>
              <a:spcAft>
                <a:spcPts val="1000"/>
              </a:spcAft>
            </a:pPr>
            <a:r>
              <a:rPr sz="1800" b="0">
                <a:solidFill>
                  <a:srgbClr val="334155"/>
                </a:solidFill>
                <a:latin typeface="Calibri"/>
              </a:rPr>
              <a:t>•  Internal: Management, Operations, Marketing, Customer Service</a:t>
            </a:r>
          </a:p>
          <a:p>
            <a:pPr>
              <a:spcAft>
                <a:spcPts val="1000"/>
              </a:spcAft>
            </a:pPr>
            <a:r>
              <a:rPr sz="1800" b="0">
                <a:solidFill>
                  <a:srgbClr val="334155"/>
                </a:solidFill>
                <a:latin typeface="Calibri"/>
              </a:rPr>
              <a:t>•  External: Guests, Travel agencies, Suppliers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2) Problem Statement</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Booking patterns and guest satisfaction are uneven across hotels, channels, and seasons. Management needs evidence on lead time, cancellations, demand peaks, and revenue so operations and marketing can allocate rooms, staff, and promotions more effectively.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3) Proposed Methodology</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Clean missing agent/company/children fields, parse arrival dates, drop duplicates and zero-guest rows.</a:t>
            </a:r>
          </a:p>
          <a:p>
            <a:pPr>
              <a:spcAft>
                <a:spcPts val="1000"/>
              </a:spcAft>
            </a:pPr>
            <a:r>
              <a:rPr sz="1800" b="0">
                <a:solidFill>
                  <a:srgbClr val="334155"/>
                </a:solidFill>
                <a:latin typeface="Calibri"/>
              </a:rPr>
              <a:t>•  Define metrics: lead time, cancellation rate, stay length, special requests, and ADR-based revenue.</a:t>
            </a:r>
          </a:p>
          <a:p>
            <a:pPr>
              <a:spcAft>
                <a:spcPts val="1000"/>
              </a:spcAft>
            </a:pPr>
            <a:r>
              <a:rPr sz="1800" b="0">
                <a:solidFill>
                  <a:srgbClr val="334155"/>
                </a:solidFill>
                <a:latin typeface="Calibri"/>
              </a:rPr>
              <a:t>•  Profile demand by hotel type, month, market segment, and country.</a:t>
            </a:r>
          </a:p>
          <a:p>
            <a:pPr>
              <a:spcAft>
                <a:spcPts val="1000"/>
              </a:spcAft>
            </a:pPr>
            <a:r>
              <a:rPr sz="1800" b="0">
                <a:solidFill>
                  <a:srgbClr val="334155"/>
                </a:solidFill>
                <a:latin typeface="Calibri"/>
              </a:rPr>
              <a:t>•  Relate lead time and deposit type to cancellations; fit a logistic baseline.</a:t>
            </a:r>
          </a:p>
          <a:p>
            <a:pPr>
              <a:spcAft>
                <a:spcPts val="1000"/>
              </a:spcAft>
            </a:pPr>
            <a:r>
              <a:rPr sz="1800" b="0">
                <a:solidFill>
                  <a:srgbClr val="334155"/>
                </a:solidFill>
                <a:latin typeface="Calibri"/>
              </a:rPr>
              <a:t>•  Convert findings into overbooking, pricing, and loyalty actions.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4) Data Overview</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rows_raw: 119390</a:t>
            </a:r>
          </a:p>
          <a:p>
            <a:pPr>
              <a:spcAft>
                <a:spcPts val="1000"/>
              </a:spcAft>
            </a:pPr>
            <a:r>
              <a:rPr sz="1800" b="0">
                <a:solidFill>
                  <a:srgbClr val="334155"/>
                </a:solidFill>
                <a:latin typeface="Calibri"/>
              </a:rPr>
              <a:t>•  rows_clean: 87229</a:t>
            </a:r>
          </a:p>
          <a:p>
            <a:pPr>
              <a:spcAft>
                <a:spcPts val="1000"/>
              </a:spcAft>
            </a:pPr>
            <a:r>
              <a:rPr sz="1800" b="0">
                <a:solidFill>
                  <a:srgbClr val="334155"/>
                </a:solidFill>
                <a:latin typeface="Calibri"/>
              </a:rPr>
              <a:t>•  cancellation_rate: 0.2752</a:t>
            </a:r>
          </a:p>
          <a:p>
            <a:pPr>
              <a:spcAft>
                <a:spcPts val="1000"/>
              </a:spcAft>
            </a:pPr>
            <a:r>
              <a:rPr sz="1800" b="0">
                <a:solidFill>
                  <a:srgbClr val="334155"/>
                </a:solidFill>
                <a:latin typeface="Calibri"/>
              </a:rPr>
              <a:t>•  hotels: {'City Hotel': 53273, 'Resort Hotel': 33956}</a:t>
            </a:r>
          </a:p>
          <a:p>
            <a:pPr>
              <a:spcAft>
                <a:spcPts val="1000"/>
              </a:spcAft>
            </a:pPr>
            <a:r>
              <a:rPr sz="1800" b="0">
                <a:solidFill>
                  <a:srgbClr val="334155"/>
                </a:solidFill>
                <a:latin typeface="Calibri"/>
              </a:rPr>
              <a:t>•  years: [2015, 2016, 2017]</a:t>
            </a:r>
          </a:p>
          <a:p>
            <a:pPr>
              <a:spcAft>
                <a:spcPts val="1000"/>
              </a:spcAft>
            </a:pPr>
            <a:r>
              <a:rPr sz="1800" b="0">
                <a:solidFill>
                  <a:srgbClr val="334155"/>
                </a:solidFill>
                <a:latin typeface="Calibri"/>
              </a:rPr>
              <a:t>•  average_stay_nights: 3.63</a:t>
            </a:r>
          </a:p>
          <a:p>
            <a:pPr>
              <a:spcAft>
                <a:spcPts val="1000"/>
              </a:spcAft>
            </a:pPr>
            <a:r>
              <a:rPr sz="1800" b="0">
                <a:solidFill>
                  <a:srgbClr val="334155"/>
                </a:solidFill>
                <a:latin typeface="Calibri"/>
              </a:rPr>
              <a:t>•  realized_stay_share: 0.7248</a:t>
            </a:r>
          </a:p>
          <a:p>
            <a:pPr>
              <a:spcAft>
                <a:spcPts val="1000"/>
              </a:spcAft>
            </a:pPr>
            <a:r>
              <a:rPr sz="1800" b="0">
                <a:solidFill>
                  <a:srgbClr val="334155"/>
                </a:solidFill>
                <a:latin typeface="Calibri"/>
              </a:rPr>
              <a:t>•  Data dictionary: see docs/CASE_STUDY.md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4) Data Overview — charts</a:t>
            </a:r>
          </a:p>
        </p:txBody>
      </p:sp>
      <p:pic>
        <p:nvPicPr>
          <p:cNvPr id="5" name="Picture 4" descr="01_hotel_cancellations.png"/>
          <p:cNvPicPr>
            <a:picLocks noChangeAspect="1"/>
          </p:cNvPicPr>
          <p:nvPr/>
        </p:nvPicPr>
        <p:blipFill>
          <a:blip r:embed="rId2"/>
          <a:stretch>
            <a:fillRect/>
          </a:stretch>
        </p:blipFill>
        <p:spPr>
          <a:xfrm>
            <a:off x="502920" y="1051560"/>
            <a:ext cx="5394960" cy="2862115"/>
          </a:xfrm>
          <a:prstGeom prst="rect">
            <a:avLst/>
          </a:prstGeom>
        </p:spPr>
      </p:pic>
      <p:pic>
        <p:nvPicPr>
          <p:cNvPr id="6" name="Picture 5" descr="02_arrivals_by_month.png"/>
          <p:cNvPicPr>
            <a:picLocks noChangeAspect="1"/>
          </p:cNvPicPr>
          <p:nvPr/>
        </p:nvPicPr>
        <p:blipFill>
          <a:blip r:embed="rId3"/>
          <a:stretch>
            <a:fillRect/>
          </a:stretch>
        </p:blipFill>
        <p:spPr>
          <a:xfrm>
            <a:off x="6263640" y="1051560"/>
            <a:ext cx="5394960" cy="2616440"/>
          </a:xfrm>
          <a:prstGeom prst="rect">
            <a:avLst/>
          </a:prstGeom>
        </p:spPr>
      </p:pic>
      <p:pic>
        <p:nvPicPr>
          <p:cNvPr id="7" name="Picture 6" descr="03_lead_time_cancel.png"/>
          <p:cNvPicPr>
            <a:picLocks noChangeAspect="1"/>
          </p:cNvPicPr>
          <p:nvPr/>
        </p:nvPicPr>
        <p:blipFill>
          <a:blip r:embed="rId4"/>
          <a:stretch>
            <a:fillRect/>
          </a:stretch>
        </p:blipFill>
        <p:spPr>
          <a:xfrm>
            <a:off x="502920" y="3703320"/>
            <a:ext cx="5394960" cy="2863812"/>
          </a:xfrm>
          <a:prstGeom prst="rect">
            <a:avLst/>
          </a:prstGeom>
        </p:spPr>
      </p:pic>
      <p:pic>
        <p:nvPicPr>
          <p:cNvPr id="8" name="Picture 7" descr="04_adr_by_year.png"/>
          <p:cNvPicPr>
            <a:picLocks noChangeAspect="1"/>
          </p:cNvPicPr>
          <p:nvPr/>
        </p:nvPicPr>
        <p:blipFill>
          <a:blip r:embed="rId5"/>
          <a:stretch>
            <a:fillRect/>
          </a:stretch>
        </p:blipFill>
        <p:spPr>
          <a:xfrm>
            <a:off x="6263640" y="3703320"/>
            <a:ext cx="5394960" cy="287344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5) Key Findings</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Overall cancellation rate is 27.5% after cleaning.</a:t>
            </a:r>
          </a:p>
          <a:p>
            <a:pPr>
              <a:spcAft>
                <a:spcPts val="1000"/>
              </a:spcAft>
            </a:pPr>
            <a:r>
              <a:rPr sz="1800" b="0">
                <a:solidFill>
                  <a:srgbClr val="334155"/>
                </a:solidFill>
                <a:latin typeface="Calibri"/>
              </a:rPr>
              <a:t>•  Guests book about 80 days ahead on average; longer lead times track with more cancellations (r=0.18).</a:t>
            </a:r>
          </a:p>
          <a:p>
            <a:pPr>
              <a:spcAft>
                <a:spcPts val="1000"/>
              </a:spcAft>
            </a:pPr>
            <a:r>
              <a:rPr sz="1800" b="0">
                <a:solidFill>
                  <a:srgbClr val="334155"/>
                </a:solidFill>
                <a:latin typeface="Calibri"/>
              </a:rPr>
              <a:t>•  August is the busiest arrival month; August leads ADR × stay revenue.</a:t>
            </a:r>
          </a:p>
          <a:p>
            <a:pPr>
              <a:spcAft>
                <a:spcPts val="1000"/>
              </a:spcAft>
            </a:pPr>
            <a:r>
              <a:rPr sz="1800" b="0">
                <a:solidFill>
                  <a:srgbClr val="334155"/>
                </a:solidFill>
                <a:latin typeface="Calibri"/>
              </a:rPr>
              <a:t>•  PRT and other top origin markets dominate volume; PRT is the single largest country.</a:t>
            </a:r>
          </a:p>
          <a:p>
            <a:pPr>
              <a:spcAft>
                <a:spcPts val="1000"/>
              </a:spcAft>
            </a:pPr>
            <a:r>
              <a:rPr sz="1800" b="0">
                <a:solidFill>
                  <a:srgbClr val="334155"/>
                </a:solidFill>
                <a:latin typeface="Calibri"/>
              </a:rPr>
              <a:t>•  A logistic model using lead time, deposit, segment, and requests reaches AUC 0.77 on a hold-out set.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5) Key Findings — charts</a:t>
            </a:r>
          </a:p>
        </p:txBody>
      </p:sp>
      <p:pic>
        <p:nvPicPr>
          <p:cNvPr id="5" name="Picture 4" descr="05_adr_by_segment.png"/>
          <p:cNvPicPr>
            <a:picLocks noChangeAspect="1"/>
          </p:cNvPicPr>
          <p:nvPr/>
        </p:nvPicPr>
        <p:blipFill>
          <a:blip r:embed="rId2"/>
          <a:stretch>
            <a:fillRect/>
          </a:stretch>
        </p:blipFill>
        <p:spPr>
          <a:xfrm>
            <a:off x="502920" y="1051560"/>
            <a:ext cx="5394960" cy="2865733"/>
          </a:xfrm>
          <a:prstGeom prst="rect">
            <a:avLst/>
          </a:prstGeom>
        </p:spPr>
      </p:pic>
      <p:pic>
        <p:nvPicPr>
          <p:cNvPr id="6" name="Picture 5" descr="06_lead_time_segment.png"/>
          <p:cNvPicPr>
            <a:picLocks noChangeAspect="1"/>
          </p:cNvPicPr>
          <p:nvPr/>
        </p:nvPicPr>
        <p:blipFill>
          <a:blip r:embed="rId3"/>
          <a:stretch>
            <a:fillRect/>
          </a:stretch>
        </p:blipFill>
        <p:spPr>
          <a:xfrm>
            <a:off x="6263640" y="1051560"/>
            <a:ext cx="5394960" cy="286019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6) Limitations</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The public dataset covers two hotels in Portugal, not a global brand.</a:t>
            </a:r>
          </a:p>
          <a:p>
            <a:pPr>
              <a:spcAft>
                <a:spcPts val="1000"/>
              </a:spcAft>
            </a:pPr>
            <a:r>
              <a:rPr sz="1800" b="0">
                <a:solidFill>
                  <a:srgbClr val="334155"/>
                </a:solidFill>
                <a:latin typeface="Calibri"/>
              </a:rPr>
              <a:t>•  ADR is not full P&amp;L; extras, commissions, and costs are missing.</a:t>
            </a:r>
          </a:p>
          <a:p>
            <a:pPr>
              <a:spcAft>
                <a:spcPts val="1000"/>
              </a:spcAft>
            </a:pPr>
            <a:r>
              <a:rPr sz="1800" b="0">
                <a:solidFill>
                  <a:srgbClr val="334155"/>
                </a:solidFill>
                <a:latin typeface="Calibri"/>
              </a:rPr>
              <a:t>•  Company and agent IDs are anonymized and heavily missing.</a:t>
            </a:r>
          </a:p>
          <a:p>
            <a:pPr>
              <a:spcAft>
                <a:spcPts val="1000"/>
              </a:spcAft>
            </a:pPr>
            <a:r>
              <a:rPr sz="1800" b="0">
                <a:solidFill>
                  <a:srgbClr val="334155"/>
                </a:solidFill>
                <a:latin typeface="Calibri"/>
              </a:rPr>
              <a:t>•  Guest satisfaction is proxied by requests and repeats, not survey scores.</a:t>
            </a:r>
          </a:p>
          <a:p>
            <a:pPr>
              <a:spcAft>
                <a:spcPts val="1000"/>
              </a:spcAft>
            </a:pPr>
            <a:r>
              <a:rPr sz="1800" b="0">
                <a:solidFill>
                  <a:srgbClr val="334155"/>
                </a:solidFill>
                <a:latin typeface="Calibri"/>
              </a:rPr>
              <a:t>•  Cancellation model is explanatory, not a production overbooking engine.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7) Conclusion</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Demand is seasonal and channel-dependent. City vs resort mix, non-refundable deposits, and long lead times are the practical levers for cancellation control, while ADR and segment mix drive revenue planning.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4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73952"/>
            <a:ext cx="12191695" cy="38404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320040"/>
            <a:ext cx="11155680" cy="640080"/>
          </a:xfrm>
          <a:prstGeom prst="rect">
            <a:avLst/>
          </a:prstGeom>
          <a:noFill/>
        </p:spPr>
        <p:txBody>
          <a:bodyPr wrap="none">
            <a:spAutoFit/>
          </a:bodyPr>
          <a:lstStyle/>
          <a:p>
            <a:r>
              <a:rPr sz="2800" b="1">
                <a:solidFill>
                  <a:srgbClr val="0F172A"/>
                </a:solidFill>
                <a:latin typeface="Calibri"/>
              </a:rPr>
              <a:t>8) Recommendations</a:t>
            </a:r>
          </a:p>
        </p:txBody>
      </p:sp>
      <p:sp>
        <p:nvSpPr>
          <p:cNvPr id="5" name="TextBox 4"/>
          <p:cNvSpPr txBox="1"/>
          <p:nvPr/>
        </p:nvSpPr>
        <p:spPr>
          <a:xfrm>
            <a:off x="640080" y="1051560"/>
            <a:ext cx="10972800" cy="4937760"/>
          </a:xfrm>
          <a:prstGeom prst="rect">
            <a:avLst/>
          </a:prstGeom>
          <a:noFill/>
        </p:spPr>
        <p:txBody>
          <a:bodyPr wrap="square">
            <a:spAutoFit/>
          </a:bodyPr>
          <a:lstStyle/>
          <a:p>
            <a:pPr>
              <a:spcAft>
                <a:spcPts val="1000"/>
              </a:spcAft>
            </a:pPr>
            <a:r>
              <a:rPr sz="1800" b="0">
                <a:solidFill>
                  <a:srgbClr val="334155"/>
                </a:solidFill>
                <a:latin typeface="Calibri"/>
              </a:rPr>
              <a:t>•  Tighten deposit or reminder policies on long-lead leisure bookings with high cancel risk.</a:t>
            </a:r>
          </a:p>
          <a:p>
            <a:pPr>
              <a:spcAft>
                <a:spcPts val="1000"/>
              </a:spcAft>
            </a:pPr>
            <a:r>
              <a:rPr sz="1800" b="0">
                <a:solidFill>
                  <a:srgbClr val="334155"/>
                </a:solidFill>
                <a:latin typeface="Calibri"/>
              </a:rPr>
              <a:t>•  Staff and price for the summer/peak-month wave rather than a flat annual plan.</a:t>
            </a:r>
          </a:p>
          <a:p>
            <a:pPr>
              <a:spcAft>
                <a:spcPts val="1000"/>
              </a:spcAft>
            </a:pPr>
            <a:r>
              <a:rPr sz="1800" b="0">
                <a:solidFill>
                  <a:srgbClr val="334155"/>
                </a:solidFill>
                <a:latin typeface="Calibri"/>
              </a:rPr>
              <a:t>•  Protect relationships with TA/TO and Direct channels that carry volume.</a:t>
            </a:r>
          </a:p>
          <a:p>
            <a:pPr>
              <a:spcAft>
                <a:spcPts val="1000"/>
              </a:spcAft>
            </a:pPr>
            <a:r>
              <a:rPr sz="1800" b="0">
                <a:solidFill>
                  <a:srgbClr val="334155"/>
                </a:solidFill>
                <a:latin typeface="Calibri"/>
              </a:rPr>
              <a:t>•  Use parking and special-request data to design upsell packages, not only room rate.</a:t>
            </a:r>
          </a:p>
          <a:p>
            <a:pPr>
              <a:spcAft>
                <a:spcPts val="1000"/>
              </a:spcAft>
            </a:pPr>
            <a:r>
              <a:rPr sz="1800" b="0">
                <a:solidFill>
                  <a:srgbClr val="334155"/>
                </a:solidFill>
                <a:latin typeface="Calibri"/>
              </a:rPr>
              <a:t>•  Build a repeat-guest offer; loyalty stays look different from first-time transient stays.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